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presenting AI Code Intelligence — a developer platform built to solve the massive cognitive burden engineers face when understanding, auditing, and extending complex software systems.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problem: software teams lose hundreds of engineering hours every sprint just trying to comprehend what legacy code does, verifying if it complies with specs, and checking for latent security holes. Traditional tools are either static linters with zero intelligence, or generic chatbots that lack codebase awareness.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unifies everything into one seamless workspace. Developers can paste code, upload a full ZIP, or link a GitHub repo. In seconds, they get visual dependency graphs, 9 deep intelligence audits, and dual AI bots.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it's built under the hood: The frontend uses lightweight React and Canvas without heavy frameworks. The backend is an asynchronous FastAPI engine with built-in AST extraction. For inference, we use Groq's LPUs running Llama 3.3 70B, delivering analysis results in milliseconds instead of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our biggest differentiators is the visual topology graph. Instead of forcing developers to read thousands of lines, our platform statically parses the AST and renders an interactive node graph. Clicking 'Explore Fullscreen' lets teams navigate file relationships effortlessly.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9-pillar analysis covers the entire software lifecycle: comprehension, code quality, algorithmic complexity, spec sheet compliance, and security audits. Best of all, users can toggle which panels they need, saving tokens and speeding up results.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cramming everything into one generic chat box, we created two specialized bots. The blue bot answers deep questions about the code. The emerald magic-wand bot synthesizes brand new, production-ready code with preset chips that match the project's exact style.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Spec Compliance scanner is a game changer for enterprise client delivery. You paste the client's PRD or spec sheet, and the engine tells you exactly what is completed, what is partially done, and what is missing. Combined with our OWASP security scan, it guarantees high software quality.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comparing to tools like GitHub Copilot or Cursor: Copilot is an autocomplete tool for when you're actively typing. AI Code Intelligence is a system-level comprehension, auditing, and architectural intelligence platform. It cuts onboarding time by 65% and guarantees complete spec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roadmap includes IDE plugins and CI/CD GitHub Actions. Now, let me transition directly to the live application to show you the ingestion, the fullscreen topology explorer, the 9-pillar audit, and our generative bots in action.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097280"/>
            <a:ext cx="9997135" cy="4663440"/>
          </a:xfrm>
          <a:prstGeom prst="roundRect">
            <a:avLst/>
          </a:prstGeom>
          <a:solidFill>
            <a:srgbClr val="131726"/>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554480"/>
            <a:ext cx="8899855" cy="3657600"/>
          </a:xfrm>
          <a:prstGeom prst="rect">
            <a:avLst/>
          </a:prstGeom>
          <a:noFill/>
        </p:spPr>
        <p:txBody>
          <a:bodyPr wrap="square">
            <a:spAutoFit/>
          </a:bodyPr>
          <a:lstStyle/>
          <a:p>
            <a:pPr>
              <a:spcAft>
                <a:spcPts val="1400"/>
              </a:spcAft>
              <a:defRPr sz="1200" b="1">
                <a:solidFill>
                  <a:srgbClr val="8B5CF6"/>
                </a:solidFill>
              </a:defRPr>
            </a:pPr>
            <a:r>
              <a:t>ENTERPRISE DEVELOPER PRODUCTIVITY PLATFORM</a:t>
            </a:r>
          </a:p>
          <a:p>
            <a:pPr>
              <a:spcAft>
                <a:spcPts val="1000"/>
              </a:spcAft>
              <a:defRPr sz="4400" b="1">
                <a:solidFill>
                  <a:srgbClr val="F8FAFC"/>
                </a:solidFill>
              </a:defRPr>
            </a:pPr>
            <a:r>
              <a:t>AI Code Intelligence</a:t>
            </a:r>
          </a:p>
          <a:p>
            <a:pPr>
              <a:spcAft>
                <a:spcPts val="2400"/>
              </a:spcAft>
              <a:defRPr sz="1600">
                <a:solidFill>
                  <a:srgbClr val="94A3B8"/>
                </a:solidFill>
              </a:defRPr>
            </a:pPr>
            <a:r>
              <a:t>Transforming Black-Box Repositories into Interactive Architectural Maps, Security Audits &amp; Generative Synthesis</a:t>
            </a:r>
          </a:p>
          <a:p>
            <a:pPr>
              <a:defRPr sz="1300" b="1">
                <a:solidFill>
                  <a:srgbClr val="14B8A6"/>
                </a:solidFill>
              </a:defRPr>
            </a:pPr>
            <a:r>
              <a:t>⚡ Powered by FastAPI • Groq LPU (Llama 3.3 70B) • React 18 • Firebase Cloud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377440" cy="320040"/>
          </a:xfrm>
          <a:prstGeom prst="roundRect">
            <a:avLst/>
          </a:prstGeom>
          <a:solidFill>
            <a:srgbClr val="1E24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8B5CF6"/>
                </a:solidFill>
              </a:defRPr>
            </a:pPr>
            <a:r>
              <a:t>MARKET CHALLENGE</a:t>
            </a:r>
          </a:p>
        </p:txBody>
      </p:sp>
      <p:sp>
        <p:nvSpPr>
          <p:cNvPr id="4" name="TextBox 3"/>
          <p:cNvSpPr txBox="1"/>
          <p:nvPr/>
        </p:nvSpPr>
        <p:spPr>
          <a:xfrm>
            <a:off x="731520" y="822960"/>
            <a:ext cx="10728655" cy="640080"/>
          </a:xfrm>
          <a:prstGeom prst="rect">
            <a:avLst/>
          </a:prstGeom>
          <a:noFill/>
        </p:spPr>
        <p:txBody>
          <a:bodyPr wrap="square">
            <a:spAutoFit/>
          </a:bodyPr>
          <a:lstStyle/>
          <a:p>
            <a:pPr>
              <a:defRPr sz="2600" b="1">
                <a:solidFill>
                  <a:srgbClr val="F8FAFC"/>
                </a:solidFill>
              </a:defRPr>
            </a:pPr>
            <a:r>
              <a:t>The Enterprise Software Crisis: Comprehension Debt</a:t>
            </a:r>
          </a:p>
          <a:p>
            <a:pPr>
              <a:defRPr sz="1300">
                <a:solidFill>
                  <a:srgbClr val="94A3B8"/>
                </a:solidFill>
              </a:defRPr>
            </a:pPr>
            <a:r>
              <a:t>Developers spend 70% of their working hours reading and debugging code, not writing it.</a:t>
            </a:r>
          </a:p>
        </p:txBody>
      </p:sp>
      <p:sp>
        <p:nvSpPr>
          <p:cNvPr id="5" name="Rounded Rectangle 4"/>
          <p:cNvSpPr/>
          <p:nvPr/>
        </p:nvSpPr>
        <p:spPr>
          <a:xfrm>
            <a:off x="731520" y="1737360"/>
            <a:ext cx="3291840" cy="438912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2834640" cy="4023359"/>
          </a:xfrm>
          <a:prstGeom prst="rect">
            <a:avLst/>
          </a:prstGeom>
          <a:noFill/>
        </p:spPr>
        <p:txBody>
          <a:bodyPr wrap="square">
            <a:spAutoFit/>
          </a:bodyPr>
          <a:lstStyle/>
          <a:p>
            <a:pPr>
              <a:spcAft>
                <a:spcPts val="1000"/>
              </a:spcAft>
              <a:defRPr sz="1500" b="1">
                <a:solidFill>
                  <a:srgbClr val="EF4444"/>
                </a:solidFill>
              </a:defRPr>
            </a:pPr>
            <a:r>
              <a:t>1. Ramp-Up Bottleneck</a:t>
            </a:r>
          </a:p>
          <a:p>
            <a:pPr>
              <a:spcAft>
                <a:spcPts val="600"/>
              </a:spcAft>
              <a:defRPr sz="1100">
                <a:solidFill>
                  <a:srgbClr val="94A3B8"/>
                </a:solidFill>
              </a:defRPr>
            </a:pPr>
            <a:r>
              <a:t>• Onboarding to new or legacy codebases takes 2 to 4 weeks per developer.</a:t>
            </a:r>
          </a:p>
          <a:p>
            <a:pPr>
              <a:spcAft>
                <a:spcPts val="600"/>
              </a:spcAft>
              <a:defRPr sz="1100">
                <a:solidFill>
                  <a:srgbClr val="94A3B8"/>
                </a:solidFill>
              </a:defRPr>
            </a:pPr>
            <a:r>
              <a:t>• Monolithic files &amp; microservice graphs lack up-to-date documentation.</a:t>
            </a:r>
          </a:p>
          <a:p>
            <a:pPr>
              <a:spcAft>
                <a:spcPts val="600"/>
              </a:spcAft>
              <a:defRPr sz="1100">
                <a:solidFill>
                  <a:srgbClr val="94A3B8"/>
                </a:solidFill>
              </a:defRPr>
            </a:pPr>
            <a:r>
              <a:t>• Architectural mental models are trapped in senior engineers' heads.</a:t>
            </a:r>
          </a:p>
          <a:p>
            <a:pPr>
              <a:spcAft>
                <a:spcPts val="600"/>
              </a:spcAft>
              <a:defRPr sz="1100">
                <a:solidFill>
                  <a:srgbClr val="94A3B8"/>
                </a:solidFill>
              </a:defRPr>
            </a:pPr>
            <a:r>
              <a:t>• Impact: Slower time-to-market and high developer turnover friction.</a:t>
            </a:r>
          </a:p>
        </p:txBody>
      </p:sp>
      <p:sp>
        <p:nvSpPr>
          <p:cNvPr id="7" name="Rounded Rectangle 6"/>
          <p:cNvSpPr/>
          <p:nvPr/>
        </p:nvSpPr>
        <p:spPr>
          <a:xfrm>
            <a:off x="4389120" y="1737360"/>
            <a:ext cx="3291840" cy="438912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920240"/>
            <a:ext cx="2834640" cy="4023359"/>
          </a:xfrm>
          <a:prstGeom prst="rect">
            <a:avLst/>
          </a:prstGeom>
          <a:noFill/>
        </p:spPr>
        <p:txBody>
          <a:bodyPr wrap="square">
            <a:spAutoFit/>
          </a:bodyPr>
          <a:lstStyle/>
          <a:p>
            <a:pPr>
              <a:spcAft>
                <a:spcPts val="1000"/>
              </a:spcAft>
              <a:defRPr sz="1500" b="1">
                <a:solidFill>
                  <a:srgbClr val="F59E0B"/>
                </a:solidFill>
              </a:defRPr>
            </a:pPr>
            <a:r>
              <a:t>2. Spec &amp; Compliance Drift</a:t>
            </a:r>
          </a:p>
          <a:p>
            <a:pPr>
              <a:spcAft>
                <a:spcPts val="600"/>
              </a:spcAft>
              <a:defRPr sz="1100">
                <a:solidFill>
                  <a:srgbClr val="94A3B8"/>
                </a:solidFill>
              </a:defRPr>
            </a:pPr>
            <a:r>
              <a:t>• Features deviate from corporate PRDs and spec sheets without notice.</a:t>
            </a:r>
          </a:p>
          <a:p>
            <a:pPr>
              <a:spcAft>
                <a:spcPts val="600"/>
              </a:spcAft>
              <a:defRPr sz="1100">
                <a:solidFill>
                  <a:srgbClr val="94A3B8"/>
                </a:solidFill>
              </a:defRPr>
            </a:pPr>
            <a:r>
              <a:t>• No automated mechanism checks whether requirements are truly implemented.</a:t>
            </a:r>
          </a:p>
          <a:p>
            <a:pPr>
              <a:spcAft>
                <a:spcPts val="600"/>
              </a:spcAft>
              <a:defRPr sz="1100">
                <a:solidFill>
                  <a:srgbClr val="94A3B8"/>
                </a:solidFill>
              </a:defRPr>
            </a:pPr>
            <a:r>
              <a:t>• Company coding standards are caught late during painful code reviews.</a:t>
            </a:r>
          </a:p>
          <a:p>
            <a:pPr>
              <a:spcAft>
                <a:spcPts val="600"/>
              </a:spcAft>
              <a:defRPr sz="1100">
                <a:solidFill>
                  <a:srgbClr val="94A3B8"/>
                </a:solidFill>
              </a:defRPr>
            </a:pPr>
            <a:r>
              <a:t>• Impact: Failed project audits, missing deliverables, and rework.</a:t>
            </a:r>
          </a:p>
        </p:txBody>
      </p:sp>
      <p:sp>
        <p:nvSpPr>
          <p:cNvPr id="9" name="Rounded Rectangle 8"/>
          <p:cNvSpPr/>
          <p:nvPr/>
        </p:nvSpPr>
        <p:spPr>
          <a:xfrm>
            <a:off x="8046720" y="1737360"/>
            <a:ext cx="3291840" cy="438912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920240"/>
            <a:ext cx="2834640" cy="4023359"/>
          </a:xfrm>
          <a:prstGeom prst="rect">
            <a:avLst/>
          </a:prstGeom>
          <a:noFill/>
        </p:spPr>
        <p:txBody>
          <a:bodyPr wrap="square">
            <a:spAutoFit/>
          </a:bodyPr>
          <a:lstStyle/>
          <a:p>
            <a:pPr>
              <a:spcAft>
                <a:spcPts val="1000"/>
              </a:spcAft>
              <a:defRPr sz="1500" b="1">
                <a:solidFill>
                  <a:srgbClr val="EF4444"/>
                </a:solidFill>
              </a:defRPr>
            </a:pPr>
            <a:r>
              <a:t>3. Security Vulnerability Leaks</a:t>
            </a:r>
          </a:p>
          <a:p>
            <a:pPr>
              <a:spcAft>
                <a:spcPts val="600"/>
              </a:spcAft>
              <a:defRPr sz="1100">
                <a:solidFill>
                  <a:srgbClr val="94A3B8"/>
                </a:solidFill>
              </a:defRPr>
            </a:pPr>
            <a:r>
              <a:t>• OWASP vulnerabilities (injection, hardcoded secrets, unsafe calls) escape to staging.</a:t>
            </a:r>
          </a:p>
          <a:p>
            <a:pPr>
              <a:spcAft>
                <a:spcPts val="600"/>
              </a:spcAft>
              <a:defRPr sz="1100">
                <a:solidFill>
                  <a:srgbClr val="94A3B8"/>
                </a:solidFill>
              </a:defRPr>
            </a:pPr>
            <a:r>
              <a:t>• Developers lack immediate, context-aware remediation diffs.</a:t>
            </a:r>
          </a:p>
          <a:p>
            <a:pPr>
              <a:spcAft>
                <a:spcPts val="600"/>
              </a:spcAft>
              <a:defRPr sz="1100">
                <a:solidFill>
                  <a:srgbClr val="94A3B8"/>
                </a:solidFill>
              </a:defRPr>
            </a:pPr>
            <a:r>
              <a:t>• Generic LLM chatbots lack full-repo AST context and hallucinate solutions.</a:t>
            </a:r>
          </a:p>
          <a:p>
            <a:pPr>
              <a:spcAft>
                <a:spcPts val="600"/>
              </a:spcAft>
              <a:defRPr sz="1100">
                <a:solidFill>
                  <a:srgbClr val="94A3B8"/>
                </a:solidFill>
              </a:defRPr>
            </a:pPr>
            <a:r>
              <a:t>• Impact: High-cost security patches and compliance exposure.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377440" cy="320040"/>
          </a:xfrm>
          <a:prstGeom prst="roundRect">
            <a:avLst/>
          </a:prstGeom>
          <a:solidFill>
            <a:srgbClr val="1E24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8B5CF6"/>
                </a:solidFill>
              </a:defRPr>
            </a:pPr>
            <a:r>
              <a:t>PRODUCT VISION</a:t>
            </a:r>
          </a:p>
        </p:txBody>
      </p:sp>
      <p:sp>
        <p:nvSpPr>
          <p:cNvPr id="4" name="TextBox 3"/>
          <p:cNvSpPr txBox="1"/>
          <p:nvPr/>
        </p:nvSpPr>
        <p:spPr>
          <a:xfrm>
            <a:off x="731520" y="822960"/>
            <a:ext cx="10728655" cy="640080"/>
          </a:xfrm>
          <a:prstGeom prst="rect">
            <a:avLst/>
          </a:prstGeom>
          <a:noFill/>
        </p:spPr>
        <p:txBody>
          <a:bodyPr wrap="square">
            <a:spAutoFit/>
          </a:bodyPr>
          <a:lstStyle/>
          <a:p>
            <a:pPr>
              <a:defRPr sz="2600" b="1">
                <a:solidFill>
                  <a:srgbClr val="F8FAFC"/>
                </a:solidFill>
              </a:defRPr>
            </a:pPr>
            <a:r>
              <a:t>AI Code Intelligence: The Autonomous Engineering Companion</a:t>
            </a:r>
          </a:p>
          <a:p>
            <a:pPr>
              <a:defRPr sz="1300">
                <a:solidFill>
                  <a:srgbClr val="94A3B8"/>
                </a:solidFill>
              </a:defRPr>
            </a:pPr>
            <a:r>
              <a:t>A unified, single-pane-of-glass platform that analyzes, visualizes, and extends any codebase.</a:t>
            </a:r>
          </a:p>
        </p:txBody>
      </p:sp>
      <p:sp>
        <p:nvSpPr>
          <p:cNvPr id="5" name="Rounded Rectangle 4"/>
          <p:cNvSpPr/>
          <p:nvPr/>
        </p:nvSpPr>
        <p:spPr>
          <a:xfrm>
            <a:off x="731520" y="1737360"/>
            <a:ext cx="5120640" cy="219456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663440" cy="1828800"/>
          </a:xfrm>
          <a:prstGeom prst="rect">
            <a:avLst/>
          </a:prstGeom>
          <a:noFill/>
        </p:spPr>
        <p:txBody>
          <a:bodyPr wrap="square">
            <a:spAutoFit/>
          </a:bodyPr>
          <a:lstStyle/>
          <a:p>
            <a:pPr>
              <a:spcAft>
                <a:spcPts val="1000"/>
              </a:spcAft>
              <a:defRPr sz="1500" b="1">
                <a:solidFill>
                  <a:srgbClr val="6366F1"/>
                </a:solidFill>
              </a:defRPr>
            </a:pPr>
            <a:r>
              <a:t>Multi-Modal Ingestion</a:t>
            </a:r>
          </a:p>
          <a:p>
            <a:pPr>
              <a:spcAft>
                <a:spcPts val="600"/>
              </a:spcAft>
              <a:defRPr sz="1100">
                <a:solidFill>
                  <a:srgbClr val="94A3B8"/>
                </a:solidFill>
              </a:defRPr>
            </a:pPr>
            <a:r>
              <a:t>• Ingests code via Text Paste, File Upload, full ZIP Archives, or live GitHub URLs.</a:t>
            </a:r>
          </a:p>
          <a:p>
            <a:pPr>
              <a:spcAft>
                <a:spcPts val="600"/>
              </a:spcAft>
              <a:defRPr sz="1100">
                <a:solidFill>
                  <a:srgbClr val="94A3B8"/>
                </a:solidFill>
              </a:defRPr>
            </a:pPr>
            <a:r>
              <a:t>• Parses multi-file module trees and dependencies automatically in seconds.</a:t>
            </a:r>
          </a:p>
        </p:txBody>
      </p:sp>
      <p:sp>
        <p:nvSpPr>
          <p:cNvPr id="7" name="Rounded Rectangle 6"/>
          <p:cNvSpPr/>
          <p:nvPr/>
        </p:nvSpPr>
        <p:spPr>
          <a:xfrm>
            <a:off x="6217920" y="1737360"/>
            <a:ext cx="5120640" cy="219456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920240"/>
            <a:ext cx="4663440" cy="1828800"/>
          </a:xfrm>
          <a:prstGeom prst="rect">
            <a:avLst/>
          </a:prstGeom>
          <a:noFill/>
        </p:spPr>
        <p:txBody>
          <a:bodyPr wrap="square">
            <a:spAutoFit/>
          </a:bodyPr>
          <a:lstStyle/>
          <a:p>
            <a:pPr>
              <a:spcAft>
                <a:spcPts val="1000"/>
              </a:spcAft>
              <a:defRPr sz="1500" b="1">
                <a:solidFill>
                  <a:srgbClr val="8B5CF6"/>
                </a:solidFill>
              </a:defRPr>
            </a:pPr>
            <a:r>
              <a:t>Visual Topological Map</a:t>
            </a:r>
          </a:p>
          <a:p>
            <a:pPr>
              <a:spcAft>
                <a:spcPts val="600"/>
              </a:spcAft>
              <a:defRPr sz="1100">
                <a:solidFill>
                  <a:srgbClr val="94A3B8"/>
                </a:solidFill>
              </a:defRPr>
            </a:pPr>
            <a:r>
              <a:t>• Extracts Abstract Syntax Trees (AST) into interactive graph nodes.</a:t>
            </a:r>
          </a:p>
          <a:p>
            <a:pPr>
              <a:spcAft>
                <a:spcPts val="600"/>
              </a:spcAft>
              <a:defRPr sz="1100">
                <a:solidFill>
                  <a:srgbClr val="94A3B8"/>
                </a:solidFill>
              </a:defRPr>
            </a:pPr>
            <a:r>
              <a:t>• Inspect class hierarchies, module dependencies, and couplings in fullscreen.</a:t>
            </a:r>
          </a:p>
        </p:txBody>
      </p:sp>
      <p:sp>
        <p:nvSpPr>
          <p:cNvPr id="9" name="Rounded Rectangle 8"/>
          <p:cNvSpPr/>
          <p:nvPr/>
        </p:nvSpPr>
        <p:spPr>
          <a:xfrm>
            <a:off x="731520" y="4114800"/>
            <a:ext cx="5120640" cy="219456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297680"/>
            <a:ext cx="4663440" cy="1828800"/>
          </a:xfrm>
          <a:prstGeom prst="rect">
            <a:avLst/>
          </a:prstGeom>
          <a:noFill/>
        </p:spPr>
        <p:txBody>
          <a:bodyPr wrap="square">
            <a:spAutoFit/>
          </a:bodyPr>
          <a:lstStyle/>
          <a:p>
            <a:pPr>
              <a:spcAft>
                <a:spcPts val="1000"/>
              </a:spcAft>
              <a:defRPr sz="1500" b="1">
                <a:solidFill>
                  <a:srgbClr val="14B8A6"/>
                </a:solidFill>
              </a:defRPr>
            </a:pPr>
            <a:r>
              <a:t>9 Deep Analysis Pillars (Streaming SSE)</a:t>
            </a:r>
          </a:p>
          <a:p>
            <a:pPr>
              <a:spcAft>
                <a:spcPts val="600"/>
              </a:spcAft>
              <a:defRPr sz="1100">
                <a:solidFill>
                  <a:srgbClr val="94A3B8"/>
                </a:solidFill>
              </a:defRPr>
            </a:pPr>
            <a:r>
              <a:t>• Executive summaries, Mermaid diagrams, API docs, Refactoring diffs, Big-O complexity,</a:t>
            </a:r>
          </a:p>
          <a:p>
            <a:pPr>
              <a:spcAft>
                <a:spcPts val="600"/>
              </a:spcAft>
              <a:defRPr sz="1100">
                <a:solidFill>
                  <a:srgbClr val="94A3B8"/>
                </a:solidFill>
              </a:defRPr>
            </a:pPr>
            <a:r>
              <a:t>• Performance optimization, Spec sheet compliance, Security audit, and Agile backlog.</a:t>
            </a:r>
          </a:p>
        </p:txBody>
      </p:sp>
      <p:sp>
        <p:nvSpPr>
          <p:cNvPr id="11" name="Rounded Rectangle 10"/>
          <p:cNvSpPr/>
          <p:nvPr/>
        </p:nvSpPr>
        <p:spPr>
          <a:xfrm>
            <a:off x="6217920" y="4114800"/>
            <a:ext cx="5120640" cy="219456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297680"/>
            <a:ext cx="4663440" cy="1828800"/>
          </a:xfrm>
          <a:prstGeom prst="rect">
            <a:avLst/>
          </a:prstGeom>
          <a:noFill/>
        </p:spPr>
        <p:txBody>
          <a:bodyPr wrap="square">
            <a:spAutoFit/>
          </a:bodyPr>
          <a:lstStyle/>
          <a:p>
            <a:pPr>
              <a:spcAft>
                <a:spcPts val="1000"/>
              </a:spcAft>
              <a:defRPr sz="1500" b="1">
                <a:solidFill>
                  <a:srgbClr val="10B981"/>
                </a:solidFill>
              </a:defRPr>
            </a:pPr>
            <a:r>
              <a:t>Dual Generative Assistants</a:t>
            </a:r>
          </a:p>
          <a:p>
            <a:pPr>
              <a:spcAft>
                <a:spcPts val="600"/>
              </a:spcAft>
              <a:defRPr sz="1100">
                <a:solidFill>
                  <a:srgbClr val="94A3B8"/>
                </a:solidFill>
              </a:defRPr>
            </a:pPr>
            <a:r>
              <a:t>• Ask Your Code (RAG Q&amp;A) for instant codebase exploration.</a:t>
            </a:r>
          </a:p>
          <a:p>
            <a:pPr>
              <a:spcAft>
                <a:spcPts val="600"/>
              </a:spcAft>
              <a:defRPr sz="1100">
                <a:solidFill>
                  <a:srgbClr val="94A3B8"/>
                </a:solidFill>
              </a:defRPr>
            </a:pPr>
            <a:r>
              <a:t>• AI Code Generator Bot (Wand) for synthesizing production endpoints, models &amp; hooks.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377440" cy="320040"/>
          </a:xfrm>
          <a:prstGeom prst="roundRect">
            <a:avLst/>
          </a:prstGeom>
          <a:solidFill>
            <a:srgbClr val="1E24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8B5CF6"/>
                </a:solidFill>
              </a:defRPr>
            </a:pPr>
            <a:r>
              <a:t>ENGINEERING EXCELLENCE</a:t>
            </a:r>
          </a:p>
        </p:txBody>
      </p:sp>
      <p:sp>
        <p:nvSpPr>
          <p:cNvPr id="4" name="TextBox 3"/>
          <p:cNvSpPr txBox="1"/>
          <p:nvPr/>
        </p:nvSpPr>
        <p:spPr>
          <a:xfrm>
            <a:off x="731520" y="822960"/>
            <a:ext cx="10728655" cy="640080"/>
          </a:xfrm>
          <a:prstGeom prst="rect">
            <a:avLst/>
          </a:prstGeom>
          <a:noFill/>
        </p:spPr>
        <p:txBody>
          <a:bodyPr wrap="square">
            <a:spAutoFit/>
          </a:bodyPr>
          <a:lstStyle/>
          <a:p>
            <a:pPr>
              <a:defRPr sz="2600" b="1">
                <a:solidFill>
                  <a:srgbClr val="F8FAFC"/>
                </a:solidFill>
              </a:defRPr>
            </a:pPr>
            <a:r>
              <a:t>High-Throughput, Modular Architecture</a:t>
            </a:r>
          </a:p>
          <a:p>
            <a:pPr>
              <a:defRPr sz="1300">
                <a:solidFill>
                  <a:srgbClr val="94A3B8"/>
                </a:solidFill>
              </a:defRPr>
            </a:pPr>
            <a:r>
              <a:t>Built with FastAPI, ultra-fast Groq LPU inference, React 18, and Firebase Cloud.</a:t>
            </a:r>
          </a:p>
        </p:txBody>
      </p:sp>
      <p:sp>
        <p:nvSpPr>
          <p:cNvPr id="5" name="Rounded Rectangle 4"/>
          <p:cNvSpPr/>
          <p:nvPr/>
        </p:nvSpPr>
        <p:spPr>
          <a:xfrm>
            <a:off x="731520" y="1737360"/>
            <a:ext cx="3291840" cy="457200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2834640" cy="4206240"/>
          </a:xfrm>
          <a:prstGeom prst="rect">
            <a:avLst/>
          </a:prstGeom>
          <a:noFill/>
        </p:spPr>
        <p:txBody>
          <a:bodyPr wrap="square">
            <a:spAutoFit/>
          </a:bodyPr>
          <a:lstStyle/>
          <a:p>
            <a:pPr>
              <a:spcAft>
                <a:spcPts val="1000"/>
              </a:spcAft>
              <a:defRPr sz="1500" b="1">
                <a:solidFill>
                  <a:srgbClr val="14B8A6"/>
                </a:solidFill>
              </a:defRPr>
            </a:pPr>
            <a:r>
              <a:t>Frontend Layer (Client)</a:t>
            </a:r>
          </a:p>
          <a:p>
            <a:pPr>
              <a:spcAft>
                <a:spcPts val="600"/>
              </a:spcAft>
              <a:defRPr sz="1100">
                <a:solidFill>
                  <a:srgbClr val="94A3B8"/>
                </a:solidFill>
              </a:defRPr>
            </a:pPr>
            <a:r>
              <a:t>• React 18 + Vite development pipeline.</a:t>
            </a:r>
          </a:p>
          <a:p>
            <a:pPr>
              <a:spcAft>
                <a:spcPts val="600"/>
              </a:spcAft>
              <a:defRPr sz="1100">
                <a:solidFill>
                  <a:srgbClr val="94A3B8"/>
                </a:solidFill>
              </a:defRPr>
            </a:pPr>
            <a:r>
              <a:t>• Vanilla CSS Glassmorphism design system.</a:t>
            </a:r>
          </a:p>
          <a:p>
            <a:pPr>
              <a:spcAft>
                <a:spcPts val="600"/>
              </a:spcAft>
              <a:defRPr sz="1100">
                <a:solidFill>
                  <a:srgbClr val="94A3B8"/>
                </a:solidFill>
              </a:defRPr>
            </a:pPr>
            <a:r>
              <a:t>• Interactive HTML5 Canvas node topology explorer.</a:t>
            </a:r>
          </a:p>
          <a:p>
            <a:pPr>
              <a:spcAft>
                <a:spcPts val="600"/>
              </a:spcAft>
              <a:defRPr sz="1100">
                <a:solidFill>
                  <a:srgbClr val="94A3B8"/>
                </a:solidFill>
              </a:defRPr>
            </a:pPr>
            <a:r>
              <a:t>• Embedded IntelliSense code viewer with syntax highlighting.</a:t>
            </a:r>
          </a:p>
          <a:p>
            <a:pPr>
              <a:spcAft>
                <a:spcPts val="600"/>
              </a:spcAft>
              <a:defRPr sz="1100">
                <a:solidFill>
                  <a:srgbClr val="94A3B8"/>
                </a:solidFill>
              </a:defRPr>
            </a:pPr>
            <a:r>
              <a:t>• Server-Sent Events (SSE) listener for dynamic streaming updates.</a:t>
            </a:r>
          </a:p>
        </p:txBody>
      </p:sp>
      <p:sp>
        <p:nvSpPr>
          <p:cNvPr id="7" name="Rounded Rectangle 6"/>
          <p:cNvSpPr/>
          <p:nvPr/>
        </p:nvSpPr>
        <p:spPr>
          <a:xfrm>
            <a:off x="4389120" y="1737360"/>
            <a:ext cx="3291840" cy="457200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920240"/>
            <a:ext cx="2834640" cy="4206240"/>
          </a:xfrm>
          <a:prstGeom prst="rect">
            <a:avLst/>
          </a:prstGeom>
          <a:noFill/>
        </p:spPr>
        <p:txBody>
          <a:bodyPr wrap="square">
            <a:spAutoFit/>
          </a:bodyPr>
          <a:lstStyle/>
          <a:p>
            <a:pPr>
              <a:spcAft>
                <a:spcPts val="1000"/>
              </a:spcAft>
              <a:defRPr sz="1500" b="1">
                <a:solidFill>
                  <a:srgbClr val="6366F1"/>
                </a:solidFill>
              </a:defRPr>
            </a:pPr>
            <a:r>
              <a:t>Backend Orchestrator</a:t>
            </a:r>
          </a:p>
          <a:p>
            <a:pPr>
              <a:spcAft>
                <a:spcPts val="600"/>
              </a:spcAft>
              <a:defRPr sz="1100">
                <a:solidFill>
                  <a:srgbClr val="94A3B8"/>
                </a:solidFill>
              </a:defRPr>
            </a:pPr>
            <a:r>
              <a:t>• Asynchronous FastAPI server with Uvicorn.</a:t>
            </a:r>
          </a:p>
          <a:p>
            <a:pPr>
              <a:spcAft>
                <a:spcPts val="600"/>
              </a:spcAft>
              <a:defRPr sz="1100">
                <a:solidFill>
                  <a:srgbClr val="94A3B8"/>
                </a:solidFill>
              </a:defRPr>
            </a:pPr>
            <a:r>
              <a:t>• Native Python AST (Abstract Syntax Tree) Parser.</a:t>
            </a:r>
          </a:p>
          <a:p>
            <a:pPr>
              <a:spcAft>
                <a:spcPts val="600"/>
              </a:spcAft>
              <a:defRPr sz="1100">
                <a:solidFill>
                  <a:srgbClr val="94A3B8"/>
                </a:solidFill>
              </a:defRPr>
            </a:pPr>
            <a:r>
              <a:t>• Modular prompt synthesis &amp; token optimizer.</a:t>
            </a:r>
          </a:p>
          <a:p>
            <a:pPr>
              <a:spcAft>
                <a:spcPts val="600"/>
              </a:spcAft>
              <a:defRPr sz="1100">
                <a:solidFill>
                  <a:srgbClr val="94A3B8"/>
                </a:solidFill>
              </a:defRPr>
            </a:pPr>
            <a:r>
              <a:t>• Concurrency Semaphore: throttles LLM requests to prevent rate limits.</a:t>
            </a:r>
          </a:p>
          <a:p>
            <a:pPr>
              <a:spcAft>
                <a:spcPts val="600"/>
              </a:spcAft>
              <a:defRPr sz="1100">
                <a:solidFill>
                  <a:srgbClr val="94A3B8"/>
                </a:solidFill>
              </a:defRPr>
            </a:pPr>
            <a:r>
              <a:t>• Multi-modal input handler (Unzips archives, queries GitHub API).</a:t>
            </a:r>
          </a:p>
        </p:txBody>
      </p:sp>
      <p:sp>
        <p:nvSpPr>
          <p:cNvPr id="9" name="Rounded Rectangle 8"/>
          <p:cNvSpPr/>
          <p:nvPr/>
        </p:nvSpPr>
        <p:spPr>
          <a:xfrm>
            <a:off x="8046720" y="1737360"/>
            <a:ext cx="3291840" cy="457200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920240"/>
            <a:ext cx="2834640" cy="4206240"/>
          </a:xfrm>
          <a:prstGeom prst="rect">
            <a:avLst/>
          </a:prstGeom>
          <a:noFill/>
        </p:spPr>
        <p:txBody>
          <a:bodyPr wrap="square">
            <a:spAutoFit/>
          </a:bodyPr>
          <a:lstStyle/>
          <a:p>
            <a:pPr>
              <a:spcAft>
                <a:spcPts val="1000"/>
              </a:spcAft>
              <a:defRPr sz="1500" b="1">
                <a:solidFill>
                  <a:srgbClr val="8B5CF6"/>
                </a:solidFill>
              </a:defRPr>
            </a:pPr>
            <a:r>
              <a:t>AI Inference &amp; Cloud</a:t>
            </a:r>
          </a:p>
          <a:p>
            <a:pPr>
              <a:spcAft>
                <a:spcPts val="600"/>
              </a:spcAft>
              <a:defRPr sz="1100">
                <a:solidFill>
                  <a:srgbClr val="94A3B8"/>
                </a:solidFill>
              </a:defRPr>
            </a:pPr>
            <a:r>
              <a:t>• Groq Cloud LPUs running Llama-3.3-70B-Versatile.</a:t>
            </a:r>
          </a:p>
          <a:p>
            <a:pPr>
              <a:spcAft>
                <a:spcPts val="600"/>
              </a:spcAft>
              <a:defRPr sz="1100">
                <a:solidFill>
                  <a:srgbClr val="94A3B8"/>
                </a:solidFill>
              </a:defRPr>
            </a:pPr>
            <a:r>
              <a:t>• Inference speeds exceeding 300 tokens/sec.</a:t>
            </a:r>
          </a:p>
          <a:p>
            <a:pPr>
              <a:spcAft>
                <a:spcPts val="600"/>
              </a:spcAft>
              <a:defRPr sz="1100">
                <a:solidFill>
                  <a:srgbClr val="94A3B8"/>
                </a:solidFill>
              </a:defRPr>
            </a:pPr>
            <a:r>
              <a:t>• Firebase Authentication with Google OAuth.</a:t>
            </a:r>
          </a:p>
          <a:p>
            <a:pPr>
              <a:spcAft>
                <a:spcPts val="600"/>
              </a:spcAft>
              <a:defRPr sz="1100">
                <a:solidFill>
                  <a:srgbClr val="94A3B8"/>
                </a:solidFill>
              </a:defRPr>
            </a:pPr>
            <a:r>
              <a:t>• Cloud Firestore for persistent user audit histories.</a:t>
            </a:r>
          </a:p>
          <a:p>
            <a:pPr>
              <a:spcAft>
                <a:spcPts val="600"/>
              </a:spcAft>
              <a:defRPr sz="1100">
                <a:solidFill>
                  <a:srgbClr val="94A3B8"/>
                </a:solidFill>
              </a:defRPr>
            </a:pPr>
            <a:r>
              <a:t>• Completely decoupled: ready for on-premise VPC deployment.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377440" cy="320040"/>
          </a:xfrm>
          <a:prstGeom prst="roundRect">
            <a:avLst/>
          </a:prstGeom>
          <a:solidFill>
            <a:srgbClr val="1E24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8B5CF6"/>
                </a:solidFill>
              </a:defRPr>
            </a:pPr>
            <a:r>
              <a:t>VISUAL COMPREHENSION</a:t>
            </a:r>
          </a:p>
        </p:txBody>
      </p:sp>
      <p:sp>
        <p:nvSpPr>
          <p:cNvPr id="4" name="TextBox 3"/>
          <p:cNvSpPr txBox="1"/>
          <p:nvPr/>
        </p:nvSpPr>
        <p:spPr>
          <a:xfrm>
            <a:off x="731520" y="822960"/>
            <a:ext cx="10728655" cy="640080"/>
          </a:xfrm>
          <a:prstGeom prst="rect">
            <a:avLst/>
          </a:prstGeom>
          <a:noFill/>
        </p:spPr>
        <p:txBody>
          <a:bodyPr wrap="square">
            <a:spAutoFit/>
          </a:bodyPr>
          <a:lstStyle/>
          <a:p>
            <a:pPr>
              <a:defRPr sz="2600" b="1">
                <a:solidFill>
                  <a:srgbClr val="F8FAFC"/>
                </a:solidFill>
              </a:defRPr>
            </a:pPr>
            <a:r>
              <a:t>Interactive Topology Graph &amp; IntelliSense</a:t>
            </a:r>
          </a:p>
          <a:p>
            <a:pPr>
              <a:defRPr sz="1300">
                <a:solidFill>
                  <a:srgbClr val="94A3B8"/>
                </a:solidFill>
              </a:defRPr>
            </a:pPr>
            <a:r>
              <a:t>Eliminating code opacity through node-based dependency mapping and inline inspection.</a:t>
            </a:r>
          </a:p>
        </p:txBody>
      </p:sp>
      <p:sp>
        <p:nvSpPr>
          <p:cNvPr id="5" name="Rounded Rectangle 4"/>
          <p:cNvSpPr/>
          <p:nvPr/>
        </p:nvSpPr>
        <p:spPr>
          <a:xfrm>
            <a:off x="731520" y="1737360"/>
            <a:ext cx="5120640" cy="457200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663440" cy="4206240"/>
          </a:xfrm>
          <a:prstGeom prst="rect">
            <a:avLst/>
          </a:prstGeom>
          <a:noFill/>
        </p:spPr>
        <p:txBody>
          <a:bodyPr wrap="square">
            <a:spAutoFit/>
          </a:bodyPr>
          <a:lstStyle/>
          <a:p>
            <a:pPr>
              <a:spcAft>
                <a:spcPts val="1000"/>
              </a:spcAft>
              <a:defRPr sz="1500" b="1">
                <a:solidFill>
                  <a:srgbClr val="6366F1"/>
                </a:solidFill>
              </a:defRPr>
            </a:pPr>
            <a:r>
              <a:t>Interactive Codebase Topology Explorer</a:t>
            </a:r>
          </a:p>
          <a:p>
            <a:pPr>
              <a:spcAft>
                <a:spcPts val="600"/>
              </a:spcAft>
              <a:defRPr sz="1100">
                <a:solidFill>
                  <a:srgbClr val="94A3B8"/>
                </a:solidFill>
              </a:defRPr>
            </a:pPr>
            <a:r>
              <a:t>• Static AST extraction maps out all files, classes, and cross-module calls.</a:t>
            </a:r>
          </a:p>
          <a:p>
            <a:pPr>
              <a:spcAft>
                <a:spcPts val="600"/>
              </a:spcAft>
              <a:defRPr sz="1100">
                <a:solidFill>
                  <a:srgbClr val="94A3B8"/>
                </a:solidFill>
              </a:defRPr>
            </a:pPr>
            <a:r>
              <a:t>• Renders a dynamic node graph directly in the browser canvas.</a:t>
            </a:r>
          </a:p>
          <a:p>
            <a:pPr>
              <a:spcAft>
                <a:spcPts val="600"/>
              </a:spcAft>
              <a:defRPr sz="1100">
                <a:solidFill>
                  <a:srgbClr val="94A3B8"/>
                </a:solidFill>
              </a:defRPr>
            </a:pPr>
            <a:r>
              <a:t>• Hover over any module node to inspect dependency count and exposed APIs.</a:t>
            </a:r>
          </a:p>
          <a:p>
            <a:pPr>
              <a:spcAft>
                <a:spcPts val="600"/>
              </a:spcAft>
              <a:defRPr sz="1100">
                <a:solidFill>
                  <a:srgbClr val="94A3B8"/>
                </a:solidFill>
              </a:defRPr>
            </a:pPr>
            <a:r>
              <a:t>• Click 'Explore Fullscreen' to open a full-resolution interactive canvas with drag, zoom, and spatial layout.</a:t>
            </a:r>
          </a:p>
          <a:p>
            <a:pPr>
              <a:spcAft>
                <a:spcPts val="600"/>
              </a:spcAft>
              <a:defRPr sz="1100">
                <a:solidFill>
                  <a:srgbClr val="94A3B8"/>
                </a:solidFill>
              </a:defRPr>
            </a:pPr>
            <a:r>
              <a:t>• Instantly spots spaghetti architecture, tight coupling, and circular dependencies.</a:t>
            </a:r>
          </a:p>
          <a:p>
            <a:pPr>
              <a:spcAft>
                <a:spcPts val="600"/>
              </a:spcAft>
              <a:defRPr sz="1100">
                <a:solidFill>
                  <a:srgbClr val="94A3B8"/>
                </a:solidFill>
              </a:defRPr>
            </a:pPr>
            <a:r>
              <a:t>• Transforms a 50-file repository into a crystal-clear mental model in 5 seconds.</a:t>
            </a:r>
          </a:p>
        </p:txBody>
      </p:sp>
      <p:sp>
        <p:nvSpPr>
          <p:cNvPr id="7" name="Rounded Rectangle 6"/>
          <p:cNvSpPr/>
          <p:nvPr/>
        </p:nvSpPr>
        <p:spPr>
          <a:xfrm>
            <a:off x="6217920" y="1737360"/>
            <a:ext cx="5120640" cy="457200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920240"/>
            <a:ext cx="4663440" cy="4206240"/>
          </a:xfrm>
          <a:prstGeom prst="rect">
            <a:avLst/>
          </a:prstGeom>
          <a:noFill/>
        </p:spPr>
        <p:txBody>
          <a:bodyPr wrap="square">
            <a:spAutoFit/>
          </a:bodyPr>
          <a:lstStyle/>
          <a:p>
            <a:pPr>
              <a:spcAft>
                <a:spcPts val="1000"/>
              </a:spcAft>
              <a:defRPr sz="1500" b="1">
                <a:solidFill>
                  <a:srgbClr val="8B5CF6"/>
                </a:solidFill>
              </a:defRPr>
            </a:pPr>
            <a:r>
              <a:t>Integrated IntelliSense Code Viewer</a:t>
            </a:r>
          </a:p>
          <a:p>
            <a:pPr>
              <a:spcAft>
                <a:spcPts val="600"/>
              </a:spcAft>
              <a:defRPr sz="1100">
                <a:solidFill>
                  <a:srgbClr val="94A3B8"/>
                </a:solidFill>
              </a:defRPr>
            </a:pPr>
            <a:r>
              <a:t>• Embedded syntax-highlighted code editor with line numbers and token coloring.</a:t>
            </a:r>
          </a:p>
          <a:p>
            <a:pPr>
              <a:spcAft>
                <a:spcPts val="600"/>
              </a:spcAft>
              <a:defRPr sz="1100">
                <a:solidFill>
                  <a:srgbClr val="94A3B8"/>
                </a:solidFill>
              </a:defRPr>
            </a:pPr>
            <a:r>
              <a:t>• Symbol inspection: hover over functions and classes to view structural metadata.</a:t>
            </a:r>
          </a:p>
          <a:p>
            <a:pPr>
              <a:spcAft>
                <a:spcPts val="600"/>
              </a:spcAft>
              <a:defRPr sz="1100">
                <a:solidFill>
                  <a:srgbClr val="94A3B8"/>
                </a:solidFill>
              </a:defRPr>
            </a:pPr>
            <a:r>
              <a:t>• Seamless synchronization: clicking an architectural node scrolls directly to its source definition.</a:t>
            </a:r>
          </a:p>
          <a:p>
            <a:pPr>
              <a:spcAft>
                <a:spcPts val="600"/>
              </a:spcAft>
              <a:defRPr sz="1100">
                <a:solidFill>
                  <a:srgbClr val="94A3B8"/>
                </a:solidFill>
              </a:defRPr>
            </a:pPr>
            <a:r>
              <a:t>• Zero tab-switching: developers stay in one unified window rather than juggling IDEs, documentation, and external AI chats.</a:t>
            </a:r>
          </a:p>
          <a:p>
            <a:pPr>
              <a:spcAft>
                <a:spcPts val="600"/>
              </a:spcAft>
              <a:defRPr sz="1100">
                <a:solidFill>
                  <a:srgbClr val="94A3B8"/>
                </a:solidFill>
              </a:defRPr>
            </a:pPr>
            <a:r>
              <a:t>• Supports Python, JavaScript, TypeScript, Java, C++, Go, and Rust.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377440" cy="320040"/>
          </a:xfrm>
          <a:prstGeom prst="roundRect">
            <a:avLst/>
          </a:prstGeom>
          <a:solidFill>
            <a:srgbClr val="1E24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8B5CF6"/>
                </a:solidFill>
              </a:defRPr>
            </a:pPr>
            <a:r>
              <a:t>COMPREHENSIVE AUDIT</a:t>
            </a:r>
          </a:p>
        </p:txBody>
      </p:sp>
      <p:sp>
        <p:nvSpPr>
          <p:cNvPr id="4" name="TextBox 3"/>
          <p:cNvSpPr txBox="1"/>
          <p:nvPr/>
        </p:nvSpPr>
        <p:spPr>
          <a:xfrm>
            <a:off x="731520" y="822960"/>
            <a:ext cx="10728655" cy="640080"/>
          </a:xfrm>
          <a:prstGeom prst="rect">
            <a:avLst/>
          </a:prstGeom>
          <a:noFill/>
        </p:spPr>
        <p:txBody>
          <a:bodyPr wrap="square">
            <a:spAutoFit/>
          </a:bodyPr>
          <a:lstStyle/>
          <a:p>
            <a:pPr>
              <a:defRPr sz="2600" b="1">
                <a:solidFill>
                  <a:srgbClr val="F8FAFC"/>
                </a:solidFill>
              </a:defRPr>
            </a:pPr>
            <a:r>
              <a:t>The 9 Pillars of Deep Code Intelligence</a:t>
            </a:r>
          </a:p>
          <a:p>
            <a:pPr>
              <a:defRPr sz="1300">
                <a:solidFill>
                  <a:srgbClr val="94A3B8"/>
                </a:solidFill>
              </a:defRPr>
            </a:pPr>
            <a:r>
              <a:t>Real-time streaming analysis delivered via Server-Sent Events (SSE).</a:t>
            </a:r>
          </a:p>
        </p:txBody>
      </p:sp>
      <p:sp>
        <p:nvSpPr>
          <p:cNvPr id="5" name="Rounded Rectangle 4"/>
          <p:cNvSpPr/>
          <p:nvPr/>
        </p:nvSpPr>
        <p:spPr>
          <a:xfrm>
            <a:off x="731520" y="1737360"/>
            <a:ext cx="3291840" cy="219456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2834640" cy="1828800"/>
          </a:xfrm>
          <a:prstGeom prst="rect">
            <a:avLst/>
          </a:prstGeom>
          <a:noFill/>
        </p:spPr>
        <p:txBody>
          <a:bodyPr wrap="square">
            <a:spAutoFit/>
          </a:bodyPr>
          <a:lstStyle/>
          <a:p>
            <a:pPr>
              <a:spcAft>
                <a:spcPts val="1000"/>
              </a:spcAft>
              <a:defRPr sz="1500" b="1">
                <a:solidFill>
                  <a:srgbClr val="6366F1"/>
                </a:solidFill>
              </a:defRPr>
            </a:pPr>
            <a:r>
              <a:t>1. Comprehension &amp; Docs</a:t>
            </a:r>
          </a:p>
          <a:p>
            <a:pPr>
              <a:spcAft>
                <a:spcPts val="600"/>
              </a:spcAft>
              <a:defRPr sz="1100">
                <a:solidFill>
                  <a:srgbClr val="94A3B8"/>
                </a:solidFill>
              </a:defRPr>
            </a:pPr>
            <a:r>
              <a:t>• Executive Plain-English Summary.</a:t>
            </a:r>
          </a:p>
          <a:p>
            <a:pPr>
              <a:spcAft>
                <a:spcPts val="600"/>
              </a:spcAft>
              <a:defRPr sz="1100">
                <a:solidFill>
                  <a:srgbClr val="94A3B8"/>
                </a:solidFill>
              </a:defRPr>
            </a:pPr>
            <a:r>
              <a:t>• Dynamic Mermaid.js Architecture Diagram.</a:t>
            </a:r>
          </a:p>
          <a:p>
            <a:pPr>
              <a:spcAft>
                <a:spcPts val="600"/>
              </a:spcAft>
              <a:defRPr sz="1100">
                <a:solidFill>
                  <a:srgbClr val="94A3B8"/>
                </a:solidFill>
              </a:defRPr>
            </a:pPr>
            <a:r>
              <a:t>• Production-ready API &amp; Developer Docs.</a:t>
            </a:r>
          </a:p>
        </p:txBody>
      </p:sp>
      <p:sp>
        <p:nvSpPr>
          <p:cNvPr id="7" name="Rounded Rectangle 6"/>
          <p:cNvSpPr/>
          <p:nvPr/>
        </p:nvSpPr>
        <p:spPr>
          <a:xfrm>
            <a:off x="4389120" y="1737360"/>
            <a:ext cx="3291840" cy="219456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920240"/>
            <a:ext cx="2834640" cy="1828800"/>
          </a:xfrm>
          <a:prstGeom prst="rect">
            <a:avLst/>
          </a:prstGeom>
          <a:noFill/>
        </p:spPr>
        <p:txBody>
          <a:bodyPr wrap="square">
            <a:spAutoFit/>
          </a:bodyPr>
          <a:lstStyle/>
          <a:p>
            <a:pPr>
              <a:spcAft>
                <a:spcPts val="1000"/>
              </a:spcAft>
              <a:defRPr sz="1500" b="1">
                <a:solidFill>
                  <a:srgbClr val="14B8A6"/>
                </a:solidFill>
              </a:defRPr>
            </a:pPr>
            <a:r>
              <a:t>2. Quality &amp; Efficiency</a:t>
            </a:r>
          </a:p>
          <a:p>
            <a:pPr>
              <a:spcAft>
                <a:spcPts val="600"/>
              </a:spcAft>
              <a:defRPr sz="1100">
                <a:solidFill>
                  <a:srgbClr val="94A3B8"/>
                </a:solidFill>
              </a:defRPr>
            </a:pPr>
            <a:r>
              <a:t>• Automated Refactoring &amp; Bug Diffs.</a:t>
            </a:r>
          </a:p>
          <a:p>
            <a:pPr>
              <a:spcAft>
                <a:spcPts val="600"/>
              </a:spcAft>
              <a:defRPr sz="1100">
                <a:solidFill>
                  <a:srgbClr val="94A3B8"/>
                </a:solidFill>
              </a:defRPr>
            </a:pPr>
            <a:r>
              <a:t>• Algorithmic Complexity (Big-O Time/Space).</a:t>
            </a:r>
          </a:p>
          <a:p>
            <a:pPr>
              <a:spcAft>
                <a:spcPts val="600"/>
              </a:spcAft>
              <a:defRPr sz="1100">
                <a:solidFill>
                  <a:srgbClr val="94A3B8"/>
                </a:solidFill>
              </a:defRPr>
            </a:pPr>
            <a:r>
              <a:t>• Performance &amp; Algorithm Optimization.</a:t>
            </a:r>
          </a:p>
        </p:txBody>
      </p:sp>
      <p:sp>
        <p:nvSpPr>
          <p:cNvPr id="9" name="Rounded Rectangle 8"/>
          <p:cNvSpPr/>
          <p:nvPr/>
        </p:nvSpPr>
        <p:spPr>
          <a:xfrm>
            <a:off x="8046720" y="1737360"/>
            <a:ext cx="3291840" cy="219456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920240"/>
            <a:ext cx="2834640" cy="1828800"/>
          </a:xfrm>
          <a:prstGeom prst="rect">
            <a:avLst/>
          </a:prstGeom>
          <a:noFill/>
        </p:spPr>
        <p:txBody>
          <a:bodyPr wrap="square">
            <a:spAutoFit/>
          </a:bodyPr>
          <a:lstStyle/>
          <a:p>
            <a:pPr>
              <a:spcAft>
                <a:spcPts val="1000"/>
              </a:spcAft>
              <a:defRPr sz="1500" b="1">
                <a:solidFill>
                  <a:srgbClr val="EF4444"/>
                </a:solidFill>
              </a:defRPr>
            </a:pPr>
            <a:r>
              <a:t>3. Compliance &amp; Governance</a:t>
            </a:r>
          </a:p>
          <a:p>
            <a:pPr>
              <a:spcAft>
                <a:spcPts val="600"/>
              </a:spcAft>
              <a:defRPr sz="1100">
                <a:solidFill>
                  <a:srgbClr val="94A3B8"/>
                </a:solidFill>
              </a:defRPr>
            </a:pPr>
            <a:r>
              <a:t>• Spec Sheet PRD Compliance Verification.</a:t>
            </a:r>
          </a:p>
          <a:p>
            <a:pPr>
              <a:spcAft>
                <a:spcPts val="600"/>
              </a:spcAft>
              <a:defRPr sz="1100">
                <a:solidFill>
                  <a:srgbClr val="94A3B8"/>
                </a:solidFill>
              </a:defRPr>
            </a:pPr>
            <a:r>
              <a:t>• OWASP Top 10 Security Vulnerability Scan.</a:t>
            </a:r>
          </a:p>
          <a:p>
            <a:pPr>
              <a:spcAft>
                <a:spcPts val="600"/>
              </a:spcAft>
              <a:defRPr sz="1100">
                <a:solidFill>
                  <a:srgbClr val="94A3B8"/>
                </a:solidFill>
              </a:defRPr>
            </a:pPr>
            <a:r>
              <a:t>• Agile Backlog &amp; Next Actions Generator.</a:t>
            </a:r>
          </a:p>
        </p:txBody>
      </p:sp>
      <p:sp>
        <p:nvSpPr>
          <p:cNvPr id="11" name="Rounded Rectangle 10"/>
          <p:cNvSpPr/>
          <p:nvPr/>
        </p:nvSpPr>
        <p:spPr>
          <a:xfrm>
            <a:off x="731520" y="4114800"/>
            <a:ext cx="10607040" cy="219456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97680"/>
            <a:ext cx="10149840" cy="1828800"/>
          </a:xfrm>
          <a:prstGeom prst="rect">
            <a:avLst/>
          </a:prstGeom>
          <a:noFill/>
        </p:spPr>
        <p:txBody>
          <a:bodyPr wrap="square">
            <a:spAutoFit/>
          </a:bodyPr>
          <a:lstStyle/>
          <a:p>
            <a:pPr>
              <a:spcAft>
                <a:spcPts val="1000"/>
              </a:spcAft>
              <a:defRPr sz="1500" b="1">
                <a:solidFill>
                  <a:srgbClr val="10B981"/>
                </a:solidFill>
              </a:defRPr>
            </a:pPr>
            <a:r>
              <a:t>Selective Execution &amp; Enterprise Rate-Limit Shield</a:t>
            </a:r>
          </a:p>
          <a:p>
            <a:pPr>
              <a:spcAft>
                <a:spcPts val="600"/>
              </a:spcAft>
              <a:defRPr sz="1100">
                <a:solidFill>
                  <a:srgbClr val="94A3B8"/>
                </a:solidFill>
              </a:defRPr>
            </a:pPr>
            <a:r>
              <a:t>• Granular 2-column feature picker: users select only the intelligence audits they need.</a:t>
            </a:r>
          </a:p>
          <a:p>
            <a:pPr>
              <a:spcAft>
                <a:spcPts val="600"/>
              </a:spcAft>
              <a:defRPr sz="1100">
                <a:solidFill>
                  <a:srgbClr val="94A3B8"/>
                </a:solidFill>
              </a:defRPr>
            </a:pPr>
            <a:r>
              <a:t>• Defaults to core essentials (Explanation, Diagram, Refactoring, Security) to conserve compute.</a:t>
            </a:r>
          </a:p>
          <a:p>
            <a:pPr>
              <a:spcAft>
                <a:spcPts val="600"/>
              </a:spcAft>
              <a:defRPr sz="1100">
                <a:solidFill>
                  <a:srgbClr val="94A3B8"/>
                </a:solidFill>
              </a:defRPr>
            </a:pPr>
            <a:r>
              <a:t>• Controlled async semaphore (asyncio.Semaphore(2)) guarantees zero API rate-limit bottlenecks on Groq.</a:t>
            </a:r>
          </a:p>
          <a:p>
            <a:pPr>
              <a:spcAft>
                <a:spcPts val="600"/>
              </a:spcAft>
              <a:defRPr sz="1100">
                <a:solidFill>
                  <a:srgbClr val="94A3B8"/>
                </a:solidFill>
              </a:defRPr>
            </a:pPr>
            <a:r>
              <a:t>• Live streaming ensures users see results immediately as each analysis finishes without waiting for the full suite.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377440" cy="320040"/>
          </a:xfrm>
          <a:prstGeom prst="roundRect">
            <a:avLst/>
          </a:prstGeom>
          <a:solidFill>
            <a:srgbClr val="1E24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8B5CF6"/>
                </a:solidFill>
              </a:defRPr>
            </a:pPr>
            <a:r>
              <a:t>DUAL AI SYNERGY</a:t>
            </a:r>
          </a:p>
        </p:txBody>
      </p:sp>
      <p:sp>
        <p:nvSpPr>
          <p:cNvPr id="4" name="TextBox 3"/>
          <p:cNvSpPr txBox="1"/>
          <p:nvPr/>
        </p:nvSpPr>
        <p:spPr>
          <a:xfrm>
            <a:off x="731520" y="822960"/>
            <a:ext cx="10728655" cy="640080"/>
          </a:xfrm>
          <a:prstGeom prst="rect">
            <a:avLst/>
          </a:prstGeom>
          <a:noFill/>
        </p:spPr>
        <p:txBody>
          <a:bodyPr wrap="square">
            <a:spAutoFit/>
          </a:bodyPr>
          <a:lstStyle/>
          <a:p>
            <a:pPr>
              <a:defRPr sz="2600" b="1">
                <a:solidFill>
                  <a:srgbClr val="F8FAFC"/>
                </a:solidFill>
              </a:defRPr>
            </a:pPr>
            <a:r>
              <a:t>Two Specialized AI Agents for Maximum Productivity</a:t>
            </a:r>
          </a:p>
          <a:p>
            <a:pPr>
              <a:defRPr sz="1300">
                <a:solidFill>
                  <a:srgbClr val="94A3B8"/>
                </a:solidFill>
              </a:defRPr>
            </a:pPr>
            <a:r>
              <a:t>Separating contextual exploration from production code synthesis.</a:t>
            </a:r>
          </a:p>
        </p:txBody>
      </p:sp>
      <p:sp>
        <p:nvSpPr>
          <p:cNvPr id="5" name="Rounded Rectangle 4"/>
          <p:cNvSpPr/>
          <p:nvPr/>
        </p:nvSpPr>
        <p:spPr>
          <a:xfrm>
            <a:off x="731520" y="1737360"/>
            <a:ext cx="5120640" cy="457200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663440" cy="4206240"/>
          </a:xfrm>
          <a:prstGeom prst="rect">
            <a:avLst/>
          </a:prstGeom>
          <a:noFill/>
        </p:spPr>
        <p:txBody>
          <a:bodyPr wrap="square">
            <a:spAutoFit/>
          </a:bodyPr>
          <a:lstStyle/>
          <a:p>
            <a:pPr>
              <a:spcAft>
                <a:spcPts val="1000"/>
              </a:spcAft>
              <a:defRPr sz="1500" b="1">
                <a:solidFill>
                  <a:srgbClr val="6366F1"/>
                </a:solidFill>
              </a:defRPr>
            </a:pPr>
            <a:r>
              <a:t>🤖 'Ask Your Code' Assistant (Bottom-Right)</a:t>
            </a:r>
          </a:p>
          <a:p>
            <a:pPr>
              <a:spcAft>
                <a:spcPts val="600"/>
              </a:spcAft>
              <a:defRPr sz="1100">
                <a:solidFill>
                  <a:srgbClr val="94A3B8"/>
                </a:solidFill>
              </a:defRPr>
            </a:pPr>
            <a:r>
              <a:t>• Purpose: Contextual comprehension &amp; codebase exploration.</a:t>
            </a:r>
          </a:p>
          <a:p>
            <a:pPr>
              <a:spcAft>
                <a:spcPts val="600"/>
              </a:spcAft>
              <a:defRPr sz="1100">
                <a:solidFill>
                  <a:srgbClr val="94A3B8"/>
                </a:solidFill>
              </a:defRPr>
            </a:pPr>
            <a:r>
              <a:t>• Multi-turn conversational chat sidebar with streaming responses.</a:t>
            </a:r>
          </a:p>
          <a:p>
            <a:pPr>
              <a:spcAft>
                <a:spcPts val="600"/>
              </a:spcAft>
              <a:defRPr sz="1100">
                <a:solidFill>
                  <a:srgbClr val="94A3B8"/>
                </a:solidFill>
              </a:defRPr>
            </a:pPr>
            <a:r>
              <a:t>• Injected with the analyzed repository's AST symbols and source code.</a:t>
            </a:r>
          </a:p>
          <a:p>
            <a:pPr>
              <a:spcAft>
                <a:spcPts val="600"/>
              </a:spcAft>
              <a:defRPr sz="1100">
                <a:solidFill>
                  <a:srgbClr val="94A3B8"/>
                </a:solidFill>
              </a:defRPr>
            </a:pPr>
            <a:r>
              <a:t>• Answers complex architectural queries: 'How does authentication flow?', 'What happens if a DB query fails?'.</a:t>
            </a:r>
          </a:p>
          <a:p>
            <a:pPr>
              <a:spcAft>
                <a:spcPts val="600"/>
              </a:spcAft>
              <a:defRPr sz="1100">
                <a:solidFill>
                  <a:srgbClr val="94A3B8"/>
                </a:solidFill>
              </a:defRPr>
            </a:pPr>
            <a:r>
              <a:t>• Acts like having the original system architect sitting beside you 24/7.</a:t>
            </a:r>
          </a:p>
        </p:txBody>
      </p:sp>
      <p:sp>
        <p:nvSpPr>
          <p:cNvPr id="7" name="Rounded Rectangle 6"/>
          <p:cNvSpPr/>
          <p:nvPr/>
        </p:nvSpPr>
        <p:spPr>
          <a:xfrm>
            <a:off x="6217920" y="1737360"/>
            <a:ext cx="5120640" cy="457200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920240"/>
            <a:ext cx="4663440" cy="4206240"/>
          </a:xfrm>
          <a:prstGeom prst="rect">
            <a:avLst/>
          </a:prstGeom>
          <a:noFill/>
        </p:spPr>
        <p:txBody>
          <a:bodyPr wrap="square">
            <a:spAutoFit/>
          </a:bodyPr>
          <a:lstStyle/>
          <a:p>
            <a:pPr>
              <a:spcAft>
                <a:spcPts val="1000"/>
              </a:spcAft>
              <a:defRPr sz="1500" b="1">
                <a:solidFill>
                  <a:srgbClr val="10B981"/>
                </a:solidFill>
              </a:defRPr>
            </a:pPr>
            <a:r>
              <a:t>🪄 AI Code Generator Bot (Bottom-Left)</a:t>
            </a:r>
          </a:p>
          <a:p>
            <a:pPr>
              <a:spcAft>
                <a:spcPts val="600"/>
              </a:spcAft>
              <a:defRPr sz="1100">
                <a:solidFill>
                  <a:srgbClr val="94A3B8"/>
                </a:solidFill>
              </a:defRPr>
            </a:pPr>
            <a:r>
              <a:t>• Purpose: High-velocity code generation &amp; integration synthesis.</a:t>
            </a:r>
          </a:p>
          <a:p>
            <a:pPr>
              <a:spcAft>
                <a:spcPts val="600"/>
              </a:spcAft>
              <a:defRPr sz="1100">
                <a:solidFill>
                  <a:srgbClr val="94A3B8"/>
                </a:solidFill>
              </a:defRPr>
            </a:pPr>
            <a:r>
              <a:t>• Emerald/teal themed generative assistant with 1-click preset chips:</a:t>
            </a:r>
          </a:p>
          <a:p>
            <a:pPr>
              <a:spcAft>
                <a:spcPts val="600"/>
              </a:spcAft>
              <a:defRPr sz="1100">
                <a:solidFill>
                  <a:srgbClr val="94A3B8"/>
                </a:solidFill>
              </a:defRPr>
            </a:pPr>
            <a:r>
              <a:t>•   • + REST Endpoint (Produces typed Pydantic/FastAPI routes)</a:t>
            </a:r>
          </a:p>
          <a:p>
            <a:pPr>
              <a:spcAft>
                <a:spcPts val="600"/>
              </a:spcAft>
              <a:defRPr sz="1100">
                <a:solidFill>
                  <a:srgbClr val="94A3B8"/>
                </a:solidFill>
              </a:defRPr>
            </a:pPr>
            <a:r>
              <a:t>•   • + Integration Handler (Generates webhook &amp; API connectors)</a:t>
            </a:r>
          </a:p>
          <a:p>
            <a:pPr>
              <a:spcAft>
                <a:spcPts val="600"/>
              </a:spcAft>
              <a:defRPr sz="1100">
                <a:solidFill>
                  <a:srgbClr val="94A3B8"/>
                </a:solidFill>
              </a:defRPr>
            </a:pPr>
            <a:r>
              <a:t>•   • + DB Model (Creates SQLAlchemy / Prisma schema definitions)</a:t>
            </a:r>
          </a:p>
          <a:p>
            <a:pPr>
              <a:spcAft>
                <a:spcPts val="600"/>
              </a:spcAft>
              <a:defRPr sz="1100">
                <a:solidFill>
                  <a:srgbClr val="94A3B8"/>
                </a:solidFill>
              </a:defRPr>
            </a:pPr>
            <a:r>
              <a:t>•   • + React Hook / Component (Generates frontend counterparts)</a:t>
            </a:r>
          </a:p>
          <a:p>
            <a:pPr>
              <a:spcAft>
                <a:spcPts val="600"/>
              </a:spcAft>
              <a:defRPr sz="1100">
                <a:solidFill>
                  <a:srgbClr val="94A3B8"/>
                </a:solidFill>
              </a:defRPr>
            </a:pPr>
            <a:r>
              <a:t>•   • + Auth Middleware (Synthesizes JWT / RBAC guards)</a:t>
            </a:r>
          </a:p>
          <a:p>
            <a:pPr>
              <a:spcAft>
                <a:spcPts val="600"/>
              </a:spcAft>
              <a:defRPr sz="1100">
                <a:solidFill>
                  <a:srgbClr val="94A3B8"/>
                </a:solidFill>
              </a:defRPr>
            </a:pPr>
            <a:r>
              <a:t>• Guaranteed compatibility: directly matches the project's real variable names, style, and imports.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377440" cy="320040"/>
          </a:xfrm>
          <a:prstGeom prst="roundRect">
            <a:avLst/>
          </a:prstGeom>
          <a:solidFill>
            <a:srgbClr val="1E24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8B5CF6"/>
                </a:solidFill>
              </a:defRPr>
            </a:pPr>
            <a:r>
              <a:t>ENTERPRISE GOVERNANCE</a:t>
            </a:r>
          </a:p>
        </p:txBody>
      </p:sp>
      <p:sp>
        <p:nvSpPr>
          <p:cNvPr id="4" name="TextBox 3"/>
          <p:cNvSpPr txBox="1"/>
          <p:nvPr/>
        </p:nvSpPr>
        <p:spPr>
          <a:xfrm>
            <a:off x="731520" y="822960"/>
            <a:ext cx="10728655" cy="640080"/>
          </a:xfrm>
          <a:prstGeom prst="rect">
            <a:avLst/>
          </a:prstGeom>
          <a:noFill/>
        </p:spPr>
        <p:txBody>
          <a:bodyPr wrap="square">
            <a:spAutoFit/>
          </a:bodyPr>
          <a:lstStyle/>
          <a:p>
            <a:pPr>
              <a:defRPr sz="2600" b="1">
                <a:solidFill>
                  <a:srgbClr val="F8FAFC"/>
                </a:solidFill>
              </a:defRPr>
            </a:pPr>
            <a:r>
              <a:t>Automated Security &amp; Spec Compliance Auditing</a:t>
            </a:r>
          </a:p>
          <a:p>
            <a:pPr>
              <a:defRPr sz="1300">
                <a:solidFill>
                  <a:srgbClr val="94A3B8"/>
                </a:solidFill>
              </a:defRPr>
            </a:pPr>
            <a:r>
              <a:t>Bridge the gap between business specifications, code execution, and cyber safety.</a:t>
            </a:r>
          </a:p>
        </p:txBody>
      </p:sp>
      <p:sp>
        <p:nvSpPr>
          <p:cNvPr id="5" name="Rounded Rectangle 4"/>
          <p:cNvSpPr/>
          <p:nvPr/>
        </p:nvSpPr>
        <p:spPr>
          <a:xfrm>
            <a:off x="731520" y="1737360"/>
            <a:ext cx="5120640" cy="457200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663440" cy="4206240"/>
          </a:xfrm>
          <a:prstGeom prst="rect">
            <a:avLst/>
          </a:prstGeom>
          <a:noFill/>
        </p:spPr>
        <p:txBody>
          <a:bodyPr wrap="square">
            <a:spAutoFit/>
          </a:bodyPr>
          <a:lstStyle/>
          <a:p>
            <a:pPr>
              <a:spcAft>
                <a:spcPts val="1000"/>
              </a:spcAft>
              <a:defRPr sz="1500" b="1">
                <a:solidFill>
                  <a:srgbClr val="EF4444"/>
                </a:solidFill>
              </a:defRPr>
            </a:pPr>
            <a:r>
              <a:t>OWASP Security Vulnerability Audit</a:t>
            </a:r>
          </a:p>
          <a:p>
            <a:pPr>
              <a:spcAft>
                <a:spcPts val="600"/>
              </a:spcAft>
              <a:defRPr sz="1100">
                <a:solidFill>
                  <a:srgbClr val="94A3B8"/>
                </a:solidFill>
              </a:defRPr>
            </a:pPr>
            <a:r>
              <a:t>• Scans for OWASP Top 10 vulnerabilities before pull requests are merged.</a:t>
            </a:r>
          </a:p>
          <a:p>
            <a:pPr>
              <a:spcAft>
                <a:spcPts val="600"/>
              </a:spcAft>
              <a:defRPr sz="1100">
                <a:solidFill>
                  <a:srgbClr val="94A3B8"/>
                </a:solidFill>
              </a:defRPr>
            </a:pPr>
            <a:r>
              <a:t>• Detects SQL injection, hardcoded secrets, unsafe deserialization, shell exploits, and missing input sanitation.</a:t>
            </a:r>
          </a:p>
          <a:p>
            <a:pPr>
              <a:spcAft>
                <a:spcPts val="600"/>
              </a:spcAft>
              <a:defRPr sz="1100">
                <a:solidFill>
                  <a:srgbClr val="94A3B8"/>
                </a:solidFill>
              </a:defRPr>
            </a:pPr>
            <a:r>
              <a:t>• Renders clear visual severity badges: 🔴 Critical, 🟠 High, 🟡 Medium.</a:t>
            </a:r>
          </a:p>
          <a:p>
            <a:pPr>
              <a:spcAft>
                <a:spcPts val="600"/>
              </a:spcAft>
              <a:defRPr sz="1100">
                <a:solidFill>
                  <a:srgbClr val="94A3B8"/>
                </a:solidFill>
              </a:defRPr>
            </a:pPr>
            <a:r>
              <a:t>• Provides concrete, copy-pasteable remediation code diffs to neutralize vulnerabilities instantly.</a:t>
            </a:r>
          </a:p>
          <a:p>
            <a:pPr>
              <a:spcAft>
                <a:spcPts val="600"/>
              </a:spcAft>
              <a:defRPr sz="1100">
                <a:solidFill>
                  <a:srgbClr val="94A3B8"/>
                </a:solidFill>
              </a:defRPr>
            </a:pPr>
            <a:r>
              <a:t>• Reduces reliance on expensive downstream third-party penetration audits.</a:t>
            </a:r>
          </a:p>
        </p:txBody>
      </p:sp>
      <p:sp>
        <p:nvSpPr>
          <p:cNvPr id="7" name="Rounded Rectangle 6"/>
          <p:cNvSpPr/>
          <p:nvPr/>
        </p:nvSpPr>
        <p:spPr>
          <a:xfrm>
            <a:off x="6217920" y="1737360"/>
            <a:ext cx="5120640" cy="457200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920240"/>
            <a:ext cx="4663440" cy="4206240"/>
          </a:xfrm>
          <a:prstGeom prst="rect">
            <a:avLst/>
          </a:prstGeom>
          <a:noFill/>
        </p:spPr>
        <p:txBody>
          <a:bodyPr wrap="square">
            <a:spAutoFit/>
          </a:bodyPr>
          <a:lstStyle/>
          <a:p>
            <a:pPr>
              <a:spcAft>
                <a:spcPts val="1000"/>
              </a:spcAft>
              <a:defRPr sz="1500" b="1">
                <a:solidFill>
                  <a:srgbClr val="F59E0B"/>
                </a:solidFill>
              </a:defRPr>
            </a:pPr>
            <a:r>
              <a:t>Spec Sheet &amp; PRD Compliance Scanner</a:t>
            </a:r>
          </a:p>
          <a:p>
            <a:pPr>
              <a:spcAft>
                <a:spcPts val="600"/>
              </a:spcAft>
              <a:defRPr sz="1100">
                <a:solidFill>
                  <a:srgbClr val="94A3B8"/>
                </a:solidFill>
              </a:defRPr>
            </a:pPr>
            <a:r>
              <a:t>• Solves the dreaded 'Spec Drift' problem where code doesn't match the PRD.</a:t>
            </a:r>
          </a:p>
          <a:p>
            <a:pPr>
              <a:spcAft>
                <a:spcPts val="600"/>
              </a:spcAft>
              <a:defRPr sz="1100">
                <a:solidFill>
                  <a:srgbClr val="94A3B8"/>
                </a:solidFill>
              </a:defRPr>
            </a:pPr>
            <a:r>
              <a:t>• Ingests client spec sheets, user stories, or enterprise architecture guidelines.</a:t>
            </a:r>
          </a:p>
          <a:p>
            <a:pPr>
              <a:spcAft>
                <a:spcPts val="600"/>
              </a:spcAft>
              <a:defRPr sz="1100">
                <a:solidFill>
                  <a:srgbClr val="94A3B8"/>
                </a:solidFill>
              </a:defRPr>
            </a:pPr>
            <a:r>
              <a:t>• Rigorously checks the codebase against each requirement.</a:t>
            </a:r>
          </a:p>
          <a:p>
            <a:pPr>
              <a:spcAft>
                <a:spcPts val="600"/>
              </a:spcAft>
              <a:defRPr sz="1100">
                <a:solidFill>
                  <a:srgbClr val="94A3B8"/>
                </a:solidFill>
              </a:defRPr>
            </a:pPr>
            <a:r>
              <a:t>• Outputs a categorized compliance score:</a:t>
            </a:r>
          </a:p>
          <a:p>
            <a:pPr>
              <a:spcAft>
                <a:spcPts val="600"/>
              </a:spcAft>
              <a:defRPr sz="1100">
                <a:solidFill>
                  <a:srgbClr val="94A3B8"/>
                </a:solidFill>
              </a:defRPr>
            </a:pPr>
            <a:r>
              <a:t>•   ✅ Complete Features (with line references)</a:t>
            </a:r>
          </a:p>
          <a:p>
            <a:pPr>
              <a:spcAft>
                <a:spcPts val="600"/>
              </a:spcAft>
              <a:defRPr sz="1100">
                <a:solidFill>
                  <a:srgbClr val="94A3B8"/>
                </a:solidFill>
              </a:defRPr>
            </a:pPr>
            <a:r>
              <a:t>•   ⚠️ Partially Implemented Logic</a:t>
            </a:r>
          </a:p>
          <a:p>
            <a:pPr>
              <a:spcAft>
                <a:spcPts val="600"/>
              </a:spcAft>
              <a:defRPr sz="1100">
                <a:solidFill>
                  <a:srgbClr val="94A3B8"/>
                </a:solidFill>
              </a:defRPr>
            </a:pPr>
            <a:r>
              <a:t>•   ❌ Missing Specifications &amp; Company Standard Violations</a:t>
            </a:r>
          </a:p>
          <a:p>
            <a:pPr>
              <a:spcAft>
                <a:spcPts val="600"/>
              </a:spcAft>
              <a:defRPr sz="1100">
                <a:solidFill>
                  <a:srgbClr val="94A3B8"/>
                </a:solidFill>
              </a:defRPr>
            </a:pPr>
            <a:r>
              <a:t>• Bridges Product Managers and Engineers with zero ambiguity.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377440" cy="320040"/>
          </a:xfrm>
          <a:prstGeom prst="roundRect">
            <a:avLst/>
          </a:prstGeom>
          <a:solidFill>
            <a:srgbClr val="1E24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8B5CF6"/>
                </a:solidFill>
              </a:defRPr>
            </a:pPr>
            <a:r>
              <a:t>VALUE PROPOSITION</a:t>
            </a:r>
          </a:p>
        </p:txBody>
      </p:sp>
      <p:sp>
        <p:nvSpPr>
          <p:cNvPr id="4" name="TextBox 3"/>
          <p:cNvSpPr txBox="1"/>
          <p:nvPr/>
        </p:nvSpPr>
        <p:spPr>
          <a:xfrm>
            <a:off x="731520" y="822960"/>
            <a:ext cx="10728655" cy="640080"/>
          </a:xfrm>
          <a:prstGeom prst="rect">
            <a:avLst/>
          </a:prstGeom>
          <a:noFill/>
        </p:spPr>
        <p:txBody>
          <a:bodyPr wrap="square">
            <a:spAutoFit/>
          </a:bodyPr>
          <a:lstStyle/>
          <a:p>
            <a:pPr>
              <a:defRPr sz="2600" b="1">
                <a:solidFill>
                  <a:srgbClr val="F8FAFC"/>
                </a:solidFill>
              </a:defRPr>
            </a:pPr>
            <a:r>
              <a:t>Competitive Differentiation &amp; Enterprise ROI</a:t>
            </a:r>
          </a:p>
          <a:p>
            <a:pPr>
              <a:defRPr sz="1300">
                <a:solidFill>
                  <a:srgbClr val="94A3B8"/>
                </a:solidFill>
              </a:defRPr>
            </a:pPr>
            <a:r>
              <a:t>How AI Code Intelligence outpaces existing developer tools.</a:t>
            </a:r>
          </a:p>
        </p:txBody>
      </p:sp>
      <p:sp>
        <p:nvSpPr>
          <p:cNvPr id="5" name="Rounded Rectangle 4"/>
          <p:cNvSpPr/>
          <p:nvPr/>
        </p:nvSpPr>
        <p:spPr>
          <a:xfrm>
            <a:off x="731520" y="1737360"/>
            <a:ext cx="3291840" cy="1645920"/>
          </a:xfrm>
          <a:prstGeom prst="roundRect">
            <a:avLst/>
          </a:prstGeom>
          <a:solidFill>
            <a:srgbClr val="171B2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74519"/>
            <a:ext cx="3017520" cy="1371600"/>
          </a:xfrm>
          <a:prstGeom prst="rect">
            <a:avLst/>
          </a:prstGeom>
          <a:noFill/>
        </p:spPr>
        <p:txBody>
          <a:bodyPr wrap="square">
            <a:spAutoFit/>
          </a:bodyPr>
          <a:lstStyle/>
          <a:p>
            <a:pPr algn="ctr">
              <a:defRPr sz="2800" b="1">
                <a:solidFill>
                  <a:srgbClr val="10B981"/>
                </a:solidFill>
              </a:defRPr>
            </a:pPr>
            <a:r>
              <a:t>65% Faster</a:t>
            </a:r>
          </a:p>
          <a:p>
            <a:pPr algn="ctr">
              <a:defRPr sz="1100">
                <a:solidFill>
                  <a:srgbClr val="F8FAFC"/>
                </a:solidFill>
              </a:defRPr>
            </a:pPr>
            <a:r>
              <a:t>Developer Onboarding Time</a:t>
            </a:r>
          </a:p>
        </p:txBody>
      </p:sp>
      <p:sp>
        <p:nvSpPr>
          <p:cNvPr id="7" name="Rounded Rectangle 6"/>
          <p:cNvSpPr/>
          <p:nvPr/>
        </p:nvSpPr>
        <p:spPr>
          <a:xfrm>
            <a:off x="4389120" y="1737360"/>
            <a:ext cx="3291840" cy="1645920"/>
          </a:xfrm>
          <a:prstGeom prst="roundRect">
            <a:avLst/>
          </a:prstGeom>
          <a:solidFill>
            <a:srgbClr val="171B2C"/>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874519"/>
            <a:ext cx="3017520" cy="1371600"/>
          </a:xfrm>
          <a:prstGeom prst="rect">
            <a:avLst/>
          </a:prstGeom>
          <a:noFill/>
        </p:spPr>
        <p:txBody>
          <a:bodyPr wrap="square">
            <a:spAutoFit/>
          </a:bodyPr>
          <a:lstStyle/>
          <a:p>
            <a:pPr algn="ctr">
              <a:defRPr sz="2800" b="1">
                <a:solidFill>
                  <a:srgbClr val="14B8A6"/>
                </a:solidFill>
              </a:defRPr>
            </a:pPr>
            <a:r>
              <a:t>40% Fewer</a:t>
            </a:r>
          </a:p>
          <a:p>
            <a:pPr algn="ctr">
              <a:defRPr sz="1100">
                <a:solidFill>
                  <a:srgbClr val="F8FAFC"/>
                </a:solidFill>
              </a:defRPr>
            </a:pPr>
            <a:r>
              <a:t>Bugs &amp; Review Bottlenecks</a:t>
            </a:r>
          </a:p>
        </p:txBody>
      </p:sp>
      <p:sp>
        <p:nvSpPr>
          <p:cNvPr id="9" name="Rounded Rectangle 8"/>
          <p:cNvSpPr/>
          <p:nvPr/>
        </p:nvSpPr>
        <p:spPr>
          <a:xfrm>
            <a:off x="8046720" y="1737360"/>
            <a:ext cx="3291840" cy="1645920"/>
          </a:xfrm>
          <a:prstGeom prst="roundRect">
            <a:avLst/>
          </a:prstGeom>
          <a:solidFill>
            <a:srgbClr val="171B2C"/>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874519"/>
            <a:ext cx="3017520" cy="1371600"/>
          </a:xfrm>
          <a:prstGeom prst="rect">
            <a:avLst/>
          </a:prstGeom>
          <a:noFill/>
        </p:spPr>
        <p:txBody>
          <a:bodyPr wrap="square">
            <a:spAutoFit/>
          </a:bodyPr>
          <a:lstStyle/>
          <a:p>
            <a:pPr algn="ctr">
              <a:defRPr sz="2800" b="1">
                <a:solidFill>
                  <a:srgbClr val="8B5CF6"/>
                </a:solidFill>
              </a:defRPr>
            </a:pPr>
            <a:r>
              <a:t>100%</a:t>
            </a:r>
          </a:p>
          <a:p>
            <a:pPr algn="ctr">
              <a:defRPr sz="1100">
                <a:solidFill>
                  <a:srgbClr val="F8FAFC"/>
                </a:solidFill>
              </a:defRPr>
            </a:pPr>
            <a:r>
              <a:t>Spec Compliance Visibility</a:t>
            </a:r>
          </a:p>
        </p:txBody>
      </p:sp>
      <p:sp>
        <p:nvSpPr>
          <p:cNvPr id="11" name="Rounded Rectangle 10"/>
          <p:cNvSpPr/>
          <p:nvPr/>
        </p:nvSpPr>
        <p:spPr>
          <a:xfrm>
            <a:off x="731520" y="3566160"/>
            <a:ext cx="10607040" cy="274320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749039"/>
            <a:ext cx="10149840" cy="2377440"/>
          </a:xfrm>
          <a:prstGeom prst="rect">
            <a:avLst/>
          </a:prstGeom>
          <a:noFill/>
        </p:spPr>
        <p:txBody>
          <a:bodyPr wrap="square">
            <a:spAutoFit/>
          </a:bodyPr>
          <a:lstStyle/>
          <a:p>
            <a:pPr>
              <a:spcAft>
                <a:spcPts val="1000"/>
              </a:spcAft>
              <a:defRPr sz="1500" b="1">
                <a:solidFill>
                  <a:srgbClr val="6366F1"/>
                </a:solidFill>
              </a:defRPr>
            </a:pPr>
            <a:r>
              <a:t>Why We Outpace GitHub Copilot &amp; Generic LLMs</a:t>
            </a:r>
          </a:p>
          <a:p>
            <a:pPr>
              <a:spcAft>
                <a:spcPts val="600"/>
              </a:spcAft>
              <a:defRPr sz="1100">
                <a:solidFill>
                  <a:srgbClr val="94A3B8"/>
                </a:solidFill>
              </a:defRPr>
            </a:pPr>
            <a:r>
              <a:t>• Whole-Repo Topological Graph: Copilot only autocompletes lines; we visualize the entire system's structure.</a:t>
            </a:r>
          </a:p>
          <a:p>
            <a:pPr>
              <a:spcAft>
                <a:spcPts val="600"/>
              </a:spcAft>
              <a:defRPr sz="1100">
                <a:solidFill>
                  <a:srgbClr val="94A3B8"/>
                </a:solidFill>
              </a:defRPr>
            </a:pPr>
            <a:r>
              <a:t>• Automated Spec Sheet Auditing: Generic ChatGPT requires manual, fragmented prompts; we provide automated compliance reports.</a:t>
            </a:r>
          </a:p>
          <a:p>
            <a:pPr>
              <a:spcAft>
                <a:spcPts val="600"/>
              </a:spcAft>
              <a:defRPr sz="1100">
                <a:solidFill>
                  <a:srgbClr val="94A3B8"/>
                </a:solidFill>
              </a:defRPr>
            </a:pPr>
            <a:r>
              <a:t>• Selective Execution &amp; Rate Limiting: Optimized for enterprise budget control and zero API throttling.</a:t>
            </a:r>
          </a:p>
          <a:p>
            <a:pPr>
              <a:spcAft>
                <a:spcPts val="600"/>
              </a:spcAft>
              <a:defRPr sz="1100">
                <a:solidFill>
                  <a:srgbClr val="94A3B8"/>
                </a:solidFill>
              </a:defRPr>
            </a:pPr>
            <a:r>
              <a:t>• Dual-Bot Architecture: Dedicated separation between comprehension Q&amp;A and production code synthesis.</a:t>
            </a:r>
          </a:p>
          <a:p>
            <a:pPr>
              <a:spcAft>
                <a:spcPts val="600"/>
              </a:spcAft>
              <a:defRPr sz="1100">
                <a:solidFill>
                  <a:srgbClr val="94A3B8"/>
                </a:solidFill>
              </a:defRPr>
            </a:pPr>
            <a:r>
              <a:t>• Cloud History &amp; Multi-User Persistence: Firebase-backed audit logs for team collaboration and regression tracking.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377440" cy="320040"/>
          </a:xfrm>
          <a:prstGeom prst="roundRect">
            <a:avLst/>
          </a:prstGeom>
          <a:solidFill>
            <a:srgbClr val="1E24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8B5CF6"/>
                </a:solidFill>
              </a:defRPr>
            </a:pPr>
            <a:r>
              <a:t>LOOKING AHEAD</a:t>
            </a:r>
          </a:p>
        </p:txBody>
      </p:sp>
      <p:sp>
        <p:nvSpPr>
          <p:cNvPr id="4" name="TextBox 3"/>
          <p:cNvSpPr txBox="1"/>
          <p:nvPr/>
        </p:nvSpPr>
        <p:spPr>
          <a:xfrm>
            <a:off x="731520" y="822960"/>
            <a:ext cx="10728655" cy="640080"/>
          </a:xfrm>
          <a:prstGeom prst="rect">
            <a:avLst/>
          </a:prstGeom>
          <a:noFill/>
        </p:spPr>
        <p:txBody>
          <a:bodyPr wrap="square">
            <a:spAutoFit/>
          </a:bodyPr>
          <a:lstStyle/>
          <a:p>
            <a:pPr>
              <a:defRPr sz="2600" b="1">
                <a:solidFill>
                  <a:srgbClr val="F8FAFC"/>
                </a:solidFill>
              </a:defRPr>
            </a:pPr>
            <a:r>
              <a:t>Product Roadmap &amp; Live Interactive Demo</a:t>
            </a:r>
          </a:p>
          <a:p>
            <a:pPr>
              <a:defRPr sz="1300">
                <a:solidFill>
                  <a:srgbClr val="94A3B8"/>
                </a:solidFill>
              </a:defRPr>
            </a:pPr>
            <a:r>
              <a:t>Scaling from single-developer productivity to enterprise-wide code governance.</a:t>
            </a:r>
          </a:p>
        </p:txBody>
      </p:sp>
      <p:sp>
        <p:nvSpPr>
          <p:cNvPr id="5" name="Rounded Rectangle 4"/>
          <p:cNvSpPr/>
          <p:nvPr/>
        </p:nvSpPr>
        <p:spPr>
          <a:xfrm>
            <a:off x="731520" y="1737360"/>
            <a:ext cx="5120640" cy="4389120"/>
          </a:xfrm>
          <a:prstGeom prst="roundRect">
            <a:avLst/>
          </a:prstGeom>
          <a:solidFill>
            <a:srgbClr val="171B2C"/>
          </a:solidFill>
          <a:ln w="12700">
            <a:solidFill>
              <a:srgbClr val="2D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663440" cy="4023359"/>
          </a:xfrm>
          <a:prstGeom prst="rect">
            <a:avLst/>
          </a:prstGeom>
          <a:noFill/>
        </p:spPr>
        <p:txBody>
          <a:bodyPr wrap="square">
            <a:spAutoFit/>
          </a:bodyPr>
          <a:lstStyle/>
          <a:p>
            <a:pPr>
              <a:spcAft>
                <a:spcPts val="1000"/>
              </a:spcAft>
              <a:defRPr sz="1500" b="1">
                <a:solidFill>
                  <a:srgbClr val="14B8A6"/>
                </a:solidFill>
              </a:defRPr>
            </a:pPr>
            <a:r>
              <a:t>Upcoming Product Roadmap</a:t>
            </a:r>
          </a:p>
          <a:p>
            <a:pPr>
              <a:spcAft>
                <a:spcPts val="600"/>
              </a:spcAft>
              <a:defRPr sz="1100">
                <a:solidFill>
                  <a:srgbClr val="94A3B8"/>
                </a:solidFill>
              </a:defRPr>
            </a:pPr>
            <a:r>
              <a:t>• 1. IDE Extensions: Native VS Code &amp; JetBrains plugins bringing the topology explorer inside your editor.</a:t>
            </a:r>
          </a:p>
          <a:p>
            <a:pPr>
              <a:spcAft>
                <a:spcPts val="600"/>
              </a:spcAft>
              <a:defRPr sz="1100">
                <a:solidFill>
                  <a:srgbClr val="94A3B8"/>
                </a:solidFill>
              </a:defRPr>
            </a:pPr>
            <a:r>
              <a:t>• 2. CI/CD GitHub Action: Automated PR audit bot commenting with Mermaid diagrams and OWASP security scans on every pull request.</a:t>
            </a:r>
          </a:p>
          <a:p>
            <a:pPr>
              <a:spcAft>
                <a:spcPts val="600"/>
              </a:spcAft>
              <a:defRPr sz="1100">
                <a:solidFill>
                  <a:srgbClr val="94A3B8"/>
                </a:solidFill>
              </a:defRPr>
            </a:pPr>
            <a:r>
              <a:t>• 3. Multi-Repo Microservice Knowledge Graph: Connecting 50+ distributed microservice repos into a global enterprise dependency map.</a:t>
            </a:r>
          </a:p>
          <a:p>
            <a:pPr>
              <a:spcAft>
                <a:spcPts val="600"/>
              </a:spcAft>
              <a:defRPr sz="1100">
                <a:solidFill>
                  <a:srgbClr val="94A3B8"/>
                </a:solidFill>
              </a:defRPr>
            </a:pPr>
            <a:r>
              <a:t>• 4. Private On-Premise Packaging: 1-click Docker/Kubernetes deployment using self-hosted vLLM or IBM watsonx.ai.</a:t>
            </a:r>
          </a:p>
        </p:txBody>
      </p:sp>
      <p:sp>
        <p:nvSpPr>
          <p:cNvPr id="7" name="Rounded Rectangle 6"/>
          <p:cNvSpPr/>
          <p:nvPr/>
        </p:nvSpPr>
        <p:spPr>
          <a:xfrm>
            <a:off x="6217920" y="1737360"/>
            <a:ext cx="5120640" cy="4389120"/>
          </a:xfrm>
          <a:prstGeom prst="roundRect">
            <a:avLst/>
          </a:prstGeom>
          <a:solidFill>
            <a:srgbClr val="161E37"/>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011680"/>
            <a:ext cx="4572000" cy="3840480"/>
          </a:xfrm>
          <a:prstGeom prst="rect">
            <a:avLst/>
          </a:prstGeom>
          <a:noFill/>
        </p:spPr>
        <p:txBody>
          <a:bodyPr wrap="square">
            <a:spAutoFit/>
          </a:bodyPr>
          <a:lstStyle/>
          <a:p>
            <a:pPr>
              <a:spcAft>
                <a:spcPts val="1400"/>
              </a:spcAft>
              <a:defRPr sz="2000" b="1">
                <a:solidFill>
                  <a:srgbClr val="10B981"/>
                </a:solidFill>
              </a:defRPr>
            </a:pPr>
            <a:r>
              <a:t>READY FOR LIVE DEMO 🚀</a:t>
            </a:r>
          </a:p>
          <a:p>
            <a:pPr>
              <a:spcAft>
                <a:spcPts val="800"/>
              </a:spcAft>
              <a:defRPr sz="1200">
                <a:solidFill>
                  <a:srgbClr val="F8FAFC"/>
                </a:solidFill>
              </a:defRPr>
            </a:pPr>
            <a:r>
              <a:t>1. Ingestion: Paste code / upload multi-file ZIP</a:t>
            </a:r>
          </a:p>
          <a:p>
            <a:pPr>
              <a:spcAft>
                <a:spcPts val="800"/>
              </a:spcAft>
              <a:defRPr sz="1200">
                <a:solidFill>
                  <a:srgbClr val="F8FAFC"/>
                </a:solidFill>
              </a:defRPr>
            </a:pPr>
            <a:r>
              <a:t>2. Customization: Select desired analysis panels</a:t>
            </a:r>
          </a:p>
          <a:p>
            <a:pPr>
              <a:spcAft>
                <a:spcPts val="800"/>
              </a:spcAft>
              <a:defRPr sz="1200">
                <a:solidFill>
                  <a:srgbClr val="F8FAFC"/>
                </a:solidFill>
              </a:defRPr>
            </a:pPr>
            <a:r>
              <a:t>3. Real-Time Streaming: Watch panels populate via SSE</a:t>
            </a:r>
          </a:p>
          <a:p>
            <a:pPr>
              <a:spcAft>
                <a:spcPts val="800"/>
              </a:spcAft>
              <a:defRPr sz="1200">
                <a:solidFill>
                  <a:srgbClr val="F8FAFC"/>
                </a:solidFill>
              </a:defRPr>
            </a:pPr>
            <a:r>
              <a:t>4. Topology Map: Open full-screen node explorer</a:t>
            </a:r>
          </a:p>
          <a:p>
            <a:pPr>
              <a:spcAft>
                <a:spcPts val="800"/>
              </a:spcAft>
              <a:defRPr sz="1200">
                <a:solidFill>
                  <a:srgbClr val="F8FAFC"/>
                </a:solidFill>
              </a:defRPr>
            </a:pPr>
            <a:r>
              <a:t>5. Security &amp; Specs: Review OWASP &amp; PRD compliance</a:t>
            </a:r>
          </a:p>
          <a:p>
            <a:pPr>
              <a:spcAft>
                <a:spcPts val="800"/>
              </a:spcAft>
              <a:defRPr sz="1200">
                <a:solidFill>
                  <a:srgbClr val="F8FAFC"/>
                </a:solidFill>
              </a:defRPr>
            </a:pPr>
            <a:r>
              <a:t>6. Bot In Action: Generate new endpoint with magic wand</a:t>
            </a:r>
          </a:p>
          <a:p>
            <a:pPr>
              <a:defRPr sz="1400" b="1">
                <a:solidFill>
                  <a:srgbClr val="8B5CF6"/>
                </a:solidFill>
              </a:defRPr>
            </a:pPr>
            <a:r>
              <a:t>Thank you! Let's open the floor to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